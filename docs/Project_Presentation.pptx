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2.jp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3.jpg" ContentType="image/jpeg"/>
  <Override PartName="/ppt/notesSlides/notesSlide7.xml" ContentType="application/vnd.openxmlformats-officedocument.presentationml.notesSlide+xml"/>
  <Override PartName="/ppt/media/image4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D8"/>
    <a:srgbClr val="1B998B"/>
    <a:srgbClr val="071525"/>
    <a:srgbClr val="82C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42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577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4577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3444"/>
            <a:ext cx="3977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College of Engineering and Technology, Hubballi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74320" y="342900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Electronics &amp; Communication Engineering  ·  Academic Year 2025–26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384048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77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 kern="0" spc="75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SLIDING WINDOW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74320" y="1405890"/>
            <a:ext cx="397764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Ambient Air Quality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74320" y="1906524"/>
            <a:ext cx="397764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13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Development and Validation of an</a:t>
            </a:r>
            <a:endParaRPr lang="en-US" sz="1013" dirty="0"/>
          </a:p>
          <a:p>
            <a:pPr>
              <a:lnSpc>
                <a:spcPct val="150000"/>
              </a:lnSpc>
            </a:pPr>
            <a:r>
              <a:rPr lang="en-US" sz="1013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Smart Ventilation System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274320" y="2592324"/>
            <a:ext cx="3909060" cy="1920240"/>
          </a:xfrm>
          <a:prstGeom prst="rect">
            <a:avLst/>
          </a:prstGeom>
          <a:solidFill>
            <a:srgbClr val="07152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2674620"/>
            <a:ext cx="3703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kern="0" spc="225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77190" y="2965420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G. Ichageri</a:t>
            </a:r>
            <a:r>
              <a:rPr lang="en-US" sz="825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Electronics &amp; Systems Lead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65163" y="3305556"/>
            <a:ext cx="3703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Rimaz Ahmed</a:t>
            </a:r>
            <a:r>
              <a:rPr lang="en-US" sz="825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Software &amp; Hardware Engineer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42900" y="3771900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Mahendra M. K.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4800600" y="754380"/>
            <a:ext cx="3977640" cy="1714500"/>
          </a:xfrm>
          <a:prstGeom prst="roundRect">
            <a:avLst>
              <a:gd name="adj" fmla="val 6000"/>
            </a:avLst>
          </a:prstGeom>
          <a:solidFill>
            <a:srgbClr val="07152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9154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37760" y="120015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VENTILATION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4937760" y="1714500"/>
            <a:ext cx="3566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Smart Ventilation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57400" cy="13716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68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1155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645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Dual-Core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2057400" cy="13716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41448" y="868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41448" y="11155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 Gas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1448" y="1645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0–5V Output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822960"/>
            <a:ext cx="2057400" cy="13716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868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54296" y="11155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L298N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1645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H-Bridge, 2A/ch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822960"/>
            <a:ext cx="2057400" cy="13716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868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67144" y="11155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12V DC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67144" y="1645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Geared Motor, 30 RPM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057400" cy="13716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" y="23774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8600" y="26334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Rack &amp; Pinion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860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11" rack · 3 cm pinion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23160" y="23317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2316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THRESHOLD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66160" y="23317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 ADC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23160" y="27889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23160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6160" y="2788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6500 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23160" y="32461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2316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DELAY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66160" y="3246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23317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36008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LENGTH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79008" y="23317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inches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36008" y="27889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36008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79008" y="27889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RPM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36008" y="3246120"/>
            <a:ext cx="2057400" cy="411480"/>
          </a:xfrm>
          <a:prstGeom prst="rect">
            <a:avLst/>
          </a:prstGeom>
          <a:solidFill>
            <a:srgbClr val="0E2030"/>
          </a:solidFill>
          <a:ln w="63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36008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PINION DIA.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79008" y="324612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93408" y="2331720"/>
            <a:ext cx="2221992" cy="132588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93408" y="2377440"/>
            <a:ext cx="2221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03720" y="2743200"/>
            <a:ext cx="201168" cy="20116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27066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 — Window Open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108960"/>
            <a:ext cx="201168" cy="201168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3072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19 — Window Closed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BOM Cost: ₹1,200 – ₹1,500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Windows Fail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34440" y="1033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Polluted Air Ingress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window during outdoor pollution events degrades indoor AQI within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1728" y="868680"/>
            <a:ext cx="4206240" cy="169164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😴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87568" y="1033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Overnight Response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87568" y="1417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 impossible during sleep — prolonged unmanaged exposure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4206240" cy="169164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34440" y="29535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Ventilation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window during clean conditions leads to CO₂ accumulation indoors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2788920"/>
            <a:ext cx="4206240" cy="169164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⚕️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87568" y="29535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Risks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87568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identifies household air pollution as a leading global health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commercial solutions cost ₹30,000–₹5,00,000 and are not designed for single-window residential or classroom use.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Decide → Act</a:t>
            </a:r>
            <a:endParaRPr lang="en-US" sz="1100" dirty="0"/>
          </a:p>
        </p:txBody>
      </p:sp>
      <p:pic>
        <p:nvPicPr>
          <p:cNvPr id="6" name="Image 0" descr="/home/claude/ppt-project/Fig_3_1_System_Design_Rend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777240"/>
            <a:ext cx="4069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868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 ventilation system that continuously monitors ambient air quality and physically actuates a sliding window — no human intervention required.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164592" cy="16459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19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Sensing: 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 feeds live ADC readings to ESP32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313432"/>
            <a:ext cx="164592" cy="16459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494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Threshold Logic: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2249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ADC threshold with 10s stability gate — no false trips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843784"/>
            <a:ext cx="164592" cy="16459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779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Actuation: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2024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&amp; pinion converts motor torque to window displacement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374136"/>
            <a:ext cx="164592" cy="16459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Feedback: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Blue/Red LED indicators confirm system state instantly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3904488"/>
            <a:ext cx="164592" cy="16459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Cost: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2024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BOM under ₹1,500 — residential &amp; classroom scale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37490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Render — Exploded View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F2C362-C807-1217-D56F-58F311C64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476" y="1724637"/>
            <a:ext cx="3067647" cy="1814091"/>
          </a:xfrm>
          <a:prstGeom prst="rect">
            <a:avLst/>
          </a:prstGeom>
          <a:ln>
            <a:solidFill>
              <a:srgbClr val="1B998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 — Sensor to Window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371600" cy="10515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 GAS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0–5V Analog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54480" y="1810512"/>
            <a:ext cx="32004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719072"/>
            <a:ext cx="27432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371600"/>
            <a:ext cx="1371600" cy="10515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 / 12-bit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63240" y="1810512"/>
            <a:ext cx="32004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719072"/>
            <a:ext cx="27432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371600"/>
            <a:ext cx="1371600" cy="1051560"/>
          </a:xfrm>
          <a:prstGeom prst="rect">
            <a:avLst/>
          </a:prstGeom>
          <a:solidFill>
            <a:srgbClr val="0B2E3A"/>
          </a:solidFill>
          <a:ln w="1905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ADC / 10s Gate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1810512"/>
            <a:ext cx="32004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719072"/>
            <a:ext cx="27432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371600"/>
            <a:ext cx="1371600" cy="10515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L298N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H-Bridge, 12V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1810512"/>
            <a:ext cx="32004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1719072"/>
            <a:ext cx="27432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371600"/>
            <a:ext cx="1371600" cy="10515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12V DC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RPM Geared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89520" y="1810512"/>
            <a:ext cx="32004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1719072"/>
            <a:ext cx="27432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1371600"/>
            <a:ext cx="1371600" cy="10515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26680" y="13898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RACK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2668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11" Linear Drive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2834640"/>
            <a:ext cx="4206240" cy="822960"/>
          </a:xfrm>
          <a:prstGeom prst="rect">
            <a:avLst/>
          </a:prstGeom>
          <a:solidFill>
            <a:srgbClr val="072310"/>
          </a:solidFill>
          <a:ln w="10160">
            <a:solidFill>
              <a:srgbClr val="2ECC7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AIR  (ADC &lt; 1900, sustained 10s)  →  Window OPENS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834640"/>
            <a:ext cx="4297680" cy="822960"/>
          </a:xfrm>
          <a:prstGeom prst="rect">
            <a:avLst/>
          </a:prstGeom>
          <a:solidFill>
            <a:srgbClr val="2D0707"/>
          </a:solidFill>
          <a:ln w="10160">
            <a:solidFill>
              <a:srgbClr val="E74C3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8803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POLLUTED AIR  (ADC ≥ 1900, sustained 10s)  →  Window CLOSES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9164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8862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Actuation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2668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25196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Logic Supply (ESP32, Sensor, LEDs)  ↔  12V Motor Supply (L298N + Motor)  |  Common GND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100" dirty="0"/>
          </a:p>
        </p:txBody>
      </p:sp>
      <p:pic>
        <p:nvPicPr>
          <p:cNvPr id="6" name="Image 0" descr="/home/claude/ppt-project/Fig_4_1_Hardware_Prototype_Setu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777240"/>
            <a:ext cx="352044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932688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02412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· 12-bit ADC · Wi-Fi/BT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426464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3167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51790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0–5V · DO/AO outputs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1920240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810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011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H-bridge · 2A/ch · 12V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8600" y="2414016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304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Geared Motor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505456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RPM · High torque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28600" y="2907792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7980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(GPIO 18)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299923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Window-open indicator · 220Ω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3401568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(GPIO 19)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49300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Window-closed indicator · 220Ω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8600" y="3895344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7856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USB Power Supply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39867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rail — ESP32, sensor, LEDs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4389120"/>
            <a:ext cx="128016" cy="128016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Adapter (≥1A)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480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rail — isolated from logic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0" y="34930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Setup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94960" y="3794760"/>
            <a:ext cx="3611880" cy="1097280"/>
          </a:xfrm>
          <a:prstGeom prst="rect">
            <a:avLst/>
          </a:prstGeom>
          <a:solidFill>
            <a:srgbClr val="0A1E2E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394960" y="382219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ASSIGNMENTS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440680" y="40782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00800" y="407822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Sensor AO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772400" y="4078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440680" y="42702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26/27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400800" y="42702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IN1/IN2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772400" y="4270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 Control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40680" y="4462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400800" y="4462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ENA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772400" y="4462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Speed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440680" y="46542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18/19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400800" y="465429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/ Red LED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7772400" y="46542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Out</a:t>
            </a:r>
            <a:endParaRPr lang="en-US" sz="8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89B388B-5027-9199-A806-75984A7AA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32" y="1500151"/>
            <a:ext cx="3520536" cy="1869730"/>
          </a:xfrm>
          <a:prstGeom prst="rect">
            <a:avLst/>
          </a:prstGeom>
          <a:ln>
            <a:solidFill>
              <a:srgbClr val="1B998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&amp; Pinion Linear Actuation</a:t>
            </a:r>
            <a:endParaRPr lang="en-US" sz="1100" dirty="0"/>
          </a:p>
        </p:txBody>
      </p:sp>
      <p:pic>
        <p:nvPicPr>
          <p:cNvPr id="6" name="Image 0" descr="/home/claude/ppt-project/Fig_5_1_Rack_and_Pinion_Mechanis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22960"/>
            <a:ext cx="50292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822960"/>
            <a:ext cx="3566160" cy="9144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40680" y="868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Length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40680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inches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40680" y="1444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279.4 mm full stroke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94960" y="1892808"/>
            <a:ext cx="3566160" cy="9144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Pinion Diameter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40680" y="2167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40680" y="2514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mm / 94.25 mm circumference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94960" y="2962656"/>
            <a:ext cx="3566160" cy="9144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40680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40680" y="3236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RPM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40680" y="3584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rev/s output shaft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94960" y="4032504"/>
            <a:ext cx="3566160" cy="9144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40680" y="4078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40680" y="4306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6500 ms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40680" y="4654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margin over 5.93s theory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1706E2C-9106-BC58-95F1-812A55092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81" y="1279242"/>
            <a:ext cx="3958537" cy="2408110"/>
          </a:xfrm>
          <a:prstGeom prst="rect">
            <a:avLst/>
          </a:prstGeom>
          <a:ln>
            <a:solidFill>
              <a:srgbClr val="1B998B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CALCULATIONS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&amp; Threshold Derivation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166360" cy="347472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22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TRANSMISSION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846320" cy="640080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Pinion Circumference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× d = π × 30 mm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94.25 mm/rev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846320" cy="640080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Speed @ 30 RPM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94.25 mm × 0.5 rev/s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47.12 mm/s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846320" cy="640080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Travel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279.4 mm ÷ 47.12 mm/s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5.93 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846320" cy="640080"/>
          </a:xfrm>
          <a:prstGeom prst="rect">
            <a:avLst/>
          </a:prstGeom>
          <a:solidFill>
            <a:srgbClr val="072035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Travel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5.93 s × 1.10 margin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6.5 s  →  6500 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777240"/>
            <a:ext cx="3383280" cy="347472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822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188720"/>
            <a:ext cx="3246120" cy="566928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188720"/>
            <a:ext cx="54864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 Baseline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1463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1100–1400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77840" y="1892808"/>
            <a:ext cx="3246120" cy="566928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892808"/>
            <a:ext cx="54864" cy="5669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1938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Pollution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167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1700–1900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2596896"/>
            <a:ext cx="3246120" cy="566928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2596896"/>
            <a:ext cx="54864" cy="5669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26426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Smoke (10cm)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28712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2100–2800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77840" y="3300984"/>
            <a:ext cx="3246120" cy="566928"/>
          </a:xfrm>
          <a:prstGeom prst="rect">
            <a:avLst/>
          </a:prstGeom>
          <a:solidFill>
            <a:srgbClr val="0D1B2A"/>
          </a:solidFill>
          <a:ln w="3810">
            <a:solidFill>
              <a:srgbClr val="2233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3300984"/>
            <a:ext cx="54864" cy="5669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3346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Set Point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35753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 ADC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77840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clean-air mean + 500 ADC  ·  Protocol: 5-min baseline read then set point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" y="43708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Length = 27.94 cm  ·  Pinion Circumference = 9.425 cm  ·  Rotations Required = 2.965 rev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&amp; WIRING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Split-Supply Design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822960"/>
            <a:ext cx="4389120" cy="12801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0" y="822960"/>
            <a:ext cx="54864" cy="128016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8321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9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5V Logic Rail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124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 VIN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1316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MQ Sensor VCC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54880" y="1517904"/>
            <a:ext cx="40233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Blue LED (220Ω)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4880" y="17007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 LED (220Ω)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54880" y="18928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L298N Logic (5V pin)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0" y="2240280"/>
            <a:ext cx="4389120" cy="12801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240280"/>
            <a:ext cx="54864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2313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12V Motor Rail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26060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L298N VS (motor power)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54880" y="27980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12V DC Geared Motor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54880" y="29900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Isolated from logic rail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0" y="3657600"/>
            <a:ext cx="4389120" cy="12801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3657600"/>
            <a:ext cx="54864" cy="1280160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730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B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GND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54880" y="40233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5V GND → Breadboard rail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54880" y="42153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12V GND → Breadboard rail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54880" y="44074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GND rails tied together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54880" y="4599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Critical: shared ref only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464350" y="3204972"/>
            <a:ext cx="46044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Separate 5V/12V supplies with shared GND eliminated ESP32 reset on motor inrush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FF6D69-50A9-0B01-3725-3B14C28D9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3965"/>
            <a:ext cx="3856263" cy="2980380"/>
          </a:xfrm>
          <a:prstGeom prst="rect">
            <a:avLst/>
          </a:prstGeom>
          <a:ln>
            <a:solidFill>
              <a:srgbClr val="1B998B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LOGIC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State Machine (FSM)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731520"/>
            <a:ext cx="2560320" cy="475488"/>
          </a:xfrm>
          <a:prstGeom prst="rect">
            <a:avLst/>
          </a:prstGeom>
          <a:solidFill>
            <a:srgbClr val="0D1B2A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731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— Setup()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53712" y="1207008"/>
            <a:ext cx="36576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344168"/>
            <a:ext cx="182880" cy="64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408176"/>
            <a:ext cx="2560320" cy="475488"/>
          </a:xfrm>
          <a:prstGeom prst="rect">
            <a:avLst/>
          </a:prstGeom>
          <a:solidFill>
            <a:srgbClr val="0B2030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081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 Sensor Warm-Up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53712" y="1883664"/>
            <a:ext cx="36576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020824"/>
            <a:ext cx="182880" cy="64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2084832"/>
            <a:ext cx="2560320" cy="475488"/>
          </a:xfrm>
          <a:prstGeom prst="rect">
            <a:avLst/>
          </a:prstGeom>
          <a:solidFill>
            <a:srgbClr val="0B2E3A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20848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Read ( gasValue 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53712" y="2560320"/>
            <a:ext cx="36576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2697480"/>
            <a:ext cx="182880" cy="64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2761488"/>
            <a:ext cx="2560320" cy="475488"/>
          </a:xfrm>
          <a:prstGeom prst="rect">
            <a:avLst/>
          </a:prstGeom>
          <a:solidFill>
            <a:srgbClr val="0B2E3A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7614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gasValue ≥ 1900?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880360"/>
            <a:ext cx="36576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2980944"/>
            <a:ext cx="73152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2999232"/>
            <a:ext cx="36576" cy="2560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27980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3236976"/>
            <a:ext cx="3291840" cy="475488"/>
          </a:xfrm>
          <a:prstGeom prst="rect">
            <a:avLst/>
          </a:prstGeom>
          <a:solidFill>
            <a:srgbClr val="1A0808"/>
          </a:solidFill>
          <a:ln w="1016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3236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10s → Re-read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Window (6500ms)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2980944"/>
            <a:ext cx="310896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" y="2999232"/>
            <a:ext cx="36576" cy="2560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7980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3236976"/>
            <a:ext cx="3291840" cy="475488"/>
          </a:xfrm>
          <a:prstGeom prst="rect">
            <a:avLst/>
          </a:prstGeom>
          <a:solidFill>
            <a:srgbClr val="071A07"/>
          </a:solidFill>
          <a:ln w="10160">
            <a:solidFill>
              <a:srgbClr val="2ECC7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" y="3236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10s → Re-read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Window (6500ms)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164592" cy="164592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ON (GPIO 18)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886200"/>
            <a:ext cx="164592" cy="164592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 (GPIO 19)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3035808"/>
            <a:ext cx="36576" cy="2011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0560" y="3172968"/>
            <a:ext cx="182880" cy="64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7" name="Text 35"/>
          <p:cNvSpPr/>
          <p:nvPr/>
        </p:nvSpPr>
        <p:spPr>
          <a:xfrm>
            <a:off x="301752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1s → Loop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Development Journey</a:t>
            </a:r>
            <a:endParaRPr lang="en-US" sz="110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1" y="1194539"/>
            <a:ext cx="3634740" cy="2377440"/>
          </a:xfrm>
          <a:prstGeom prst="rect">
            <a:avLst/>
          </a:prstGeom>
          <a:ln>
            <a:solidFill>
              <a:srgbClr val="1B998B"/>
            </a:solidFill>
          </a:ln>
        </p:spPr>
      </p:pic>
      <p:sp>
        <p:nvSpPr>
          <p:cNvPr id="8" name="Shape 4"/>
          <p:cNvSpPr/>
          <p:nvPr/>
        </p:nvSpPr>
        <p:spPr>
          <a:xfrm>
            <a:off x="4663440" y="850392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5"/>
          <p:cNvSpPr/>
          <p:nvPr/>
        </p:nvSpPr>
        <p:spPr>
          <a:xfrm>
            <a:off x="4663440" y="850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166360" y="804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&amp; Component Selection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166360" y="1106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chosen for 12-bit ADC (4096 levels vs Arduino's 1024)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1682496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9"/>
          <p:cNvSpPr/>
          <p:nvPr/>
        </p:nvSpPr>
        <p:spPr>
          <a:xfrm>
            <a:off x="466344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66360" y="1636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Assembly &amp; Power Fix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166360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5V/12V supply resolved ESP32 reset on motor inrush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251460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3"/>
          <p:cNvSpPr/>
          <p:nvPr/>
        </p:nvSpPr>
        <p:spPr>
          <a:xfrm>
            <a:off x="46634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166360" y="2468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&amp; Calibration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166360" y="2770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raised 1800→1900; stability delay extended 3s→10s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3346704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7"/>
          <p:cNvSpPr/>
          <p:nvPr/>
        </p:nvSpPr>
        <p:spPr>
          <a:xfrm>
            <a:off x="46634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166360" y="33009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 &amp; Alignment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166360" y="36027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Al side-bracing eliminated rack skip under load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63440" y="4178808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1"/>
          <p:cNvSpPr/>
          <p:nvPr/>
        </p:nvSpPr>
        <p:spPr>
          <a:xfrm>
            <a:off x="466344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66360" y="4133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Validation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166360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under incense smoke — all scenarios passed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-93518" y="37307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 ·  Final Integrated Assembly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VALIDATION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Testing — All Scenarios Passed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804672"/>
            <a:ext cx="5852160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804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19456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56616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37760" y="804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1170432"/>
            <a:ext cx="5852160" cy="457200"/>
          </a:xfrm>
          <a:prstGeom prst="rect">
            <a:avLst/>
          </a:prstGeom>
          <a:solidFill>
            <a:srgbClr val="13203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1704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Ambient Air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94560" y="117043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1900 ADC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66160" y="117043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Opens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11704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1655064"/>
            <a:ext cx="5852160" cy="457200"/>
          </a:xfrm>
          <a:prstGeom prst="rect">
            <a:avLst/>
          </a:prstGeom>
          <a:solidFill>
            <a:srgbClr val="0E2030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16550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Incense Smoke Introduced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194560" y="165506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1900 ADC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66160" y="165506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16550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2139696"/>
            <a:ext cx="5852160" cy="457200"/>
          </a:xfrm>
          <a:prstGeom prst="rect">
            <a:avLst/>
          </a:prstGeom>
          <a:solidFill>
            <a:srgbClr val="132030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213969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Spike (&lt; 10s)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94560" y="213969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1900, then drops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566160" y="213969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7760" y="21396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Stable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28600" y="2624328"/>
            <a:ext cx="5852160" cy="457200"/>
          </a:xfrm>
          <a:prstGeom prst="rect">
            <a:avLst/>
          </a:prstGeom>
          <a:solidFill>
            <a:srgbClr val="0E2030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262432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Pollution (&gt; 10s)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194560" y="26243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1900 sustained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566160" y="26243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Closes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3776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28600" y="3108960"/>
            <a:ext cx="5852160" cy="457200"/>
          </a:xfrm>
          <a:prstGeom prst="rect">
            <a:avLst/>
          </a:prstGeom>
          <a:solidFill>
            <a:srgbClr val="132030"/>
          </a:solidFill>
          <a:ln/>
        </p:spPr>
      </p:sp>
      <p:sp>
        <p:nvSpPr>
          <p:cNvPr id="33" name="Text 30"/>
          <p:cNvSpPr/>
          <p:nvPr/>
        </p:nvSpPr>
        <p:spPr>
          <a:xfrm>
            <a:off x="274320" y="3108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Fluctuation Near Threshold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19456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~1850–1950 ADC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566160" y="31089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3776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Stable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28600" y="3593592"/>
            <a:ext cx="5852160" cy="457200"/>
          </a:xfrm>
          <a:prstGeom prst="rect">
            <a:avLst/>
          </a:prstGeom>
          <a:solidFill>
            <a:srgbClr val="0E2030"/>
          </a:solidFill>
          <a:ln/>
        </p:spPr>
      </p:sp>
      <p:sp>
        <p:nvSpPr>
          <p:cNvPr id="38" name="Text 35"/>
          <p:cNvSpPr/>
          <p:nvPr/>
        </p:nvSpPr>
        <p:spPr>
          <a:xfrm>
            <a:off x="274320" y="35935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Ambient Monitor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194560" y="35935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1900 throughout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566160" y="35935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937760" y="3593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False Act.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217920" y="1840230"/>
            <a:ext cx="2743200" cy="146304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217920" y="188595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PERFORMANCE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309360" y="220599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Stroke Time: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863840" y="220599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– 6.4 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09360" y="246202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Skip Events: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863840" y="246202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(after bracing)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309360" y="271805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Actuations: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863840" y="271805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observed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309360" y="297408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 Baseline: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7863840" y="297408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1100–1400 ADC</a:t>
            </a:r>
            <a:endParaRPr lang="en-US" sz="950" dirty="0"/>
          </a:p>
        </p:txBody>
      </p:sp>
      <p:sp>
        <p:nvSpPr>
          <p:cNvPr id="52" name="Shape 8"/>
          <p:cNvSpPr/>
          <p:nvPr/>
        </p:nvSpPr>
        <p:spPr>
          <a:xfrm>
            <a:off x="548640" y="4279392"/>
            <a:ext cx="8229600" cy="685800"/>
          </a:xfrm>
          <a:prstGeom prst="rect">
            <a:avLst/>
          </a:prstGeom>
          <a:solidFill>
            <a:srgbClr val="0A1520">
              <a:alpha val="80000"/>
            </a:srgbClr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53" name="Text 9"/>
          <p:cNvSpPr/>
          <p:nvPr/>
        </p:nvSpPr>
        <p:spPr>
          <a:xfrm>
            <a:off x="640080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50" dirty="0"/>
          </a:p>
        </p:txBody>
      </p:sp>
      <p:sp>
        <p:nvSpPr>
          <p:cNvPr id="54" name="Text 10"/>
          <p:cNvSpPr/>
          <p:nvPr/>
        </p:nvSpPr>
        <p:spPr>
          <a:xfrm>
            <a:off x="1664208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</a:t>
            </a:r>
            <a:endParaRPr lang="en-US" sz="950" dirty="0"/>
          </a:p>
        </p:txBody>
      </p:sp>
      <p:sp>
        <p:nvSpPr>
          <p:cNvPr id="55" name="Text 11"/>
          <p:cNvSpPr/>
          <p:nvPr/>
        </p:nvSpPr>
        <p:spPr>
          <a:xfrm>
            <a:off x="2688336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</a:t>
            </a:r>
            <a:endParaRPr lang="en-US" sz="950" dirty="0"/>
          </a:p>
        </p:txBody>
      </p:sp>
      <p:sp>
        <p:nvSpPr>
          <p:cNvPr id="56" name="Text 12"/>
          <p:cNvSpPr/>
          <p:nvPr/>
        </p:nvSpPr>
        <p:spPr>
          <a:xfrm>
            <a:off x="3712464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Motor</a:t>
            </a:r>
            <a:endParaRPr lang="en-US" sz="950" dirty="0"/>
          </a:p>
        </p:txBody>
      </p:sp>
      <p:sp>
        <p:nvSpPr>
          <p:cNvPr id="57" name="Text 13"/>
          <p:cNvSpPr/>
          <p:nvPr/>
        </p:nvSpPr>
        <p:spPr>
          <a:xfrm>
            <a:off x="4736592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ADC</a:t>
            </a:r>
            <a:endParaRPr lang="en-US" sz="950" dirty="0"/>
          </a:p>
        </p:txBody>
      </p:sp>
      <p:sp>
        <p:nvSpPr>
          <p:cNvPr id="58" name="Text 14"/>
          <p:cNvSpPr/>
          <p:nvPr/>
        </p:nvSpPr>
        <p:spPr>
          <a:xfrm>
            <a:off x="5760720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6500 ms</a:t>
            </a:r>
            <a:endParaRPr lang="en-US" sz="950" dirty="0"/>
          </a:p>
        </p:txBody>
      </p:sp>
      <p:sp>
        <p:nvSpPr>
          <p:cNvPr id="59" name="Text 15"/>
          <p:cNvSpPr/>
          <p:nvPr/>
        </p:nvSpPr>
        <p:spPr>
          <a:xfrm>
            <a:off x="6784848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Delay</a:t>
            </a:r>
            <a:endParaRPr lang="en-US" sz="950" dirty="0"/>
          </a:p>
        </p:txBody>
      </p:sp>
      <p:sp>
        <p:nvSpPr>
          <p:cNvPr id="60" name="Text 16"/>
          <p:cNvSpPr/>
          <p:nvPr/>
        </p:nvSpPr>
        <p:spPr>
          <a:xfrm>
            <a:off x="7808976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 BOM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Problems Encountered &amp; Resolved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206240" cy="19659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896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Single-Supply Voltage Collapse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99032"/>
            <a:ext cx="3886200" cy="502920"/>
          </a:xfrm>
          <a:prstGeom prst="rect">
            <a:avLst/>
          </a:prstGeom>
          <a:solidFill>
            <a:srgbClr val="2D0F07"/>
          </a:solidFill>
          <a:ln w="6350">
            <a:solidFill>
              <a:srgbClr val="AA44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990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Motor inrush current caused ESP32 to reset on every motor start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3886200" cy="548640"/>
          </a:xfrm>
          <a:prstGeom prst="rect">
            <a:avLst/>
          </a:prstGeom>
          <a:solidFill>
            <a:srgbClr val="072310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933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Separated 5V logic rail from 12V motor rail — shared GND only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81728" y="804672"/>
            <a:ext cx="4206240" cy="19659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18888" y="91440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896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 Sensor Warm-Up Drift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1399032"/>
            <a:ext cx="3886200" cy="502920"/>
          </a:xfrm>
          <a:prstGeom prst="rect">
            <a:avLst/>
          </a:prstGeom>
          <a:solidFill>
            <a:srgbClr val="2D0F07"/>
          </a:solidFill>
          <a:ln w="6350">
            <a:solidFill>
              <a:srgbClr val="AA44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3990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Elevated startup ADC readings triggered immediate window close on boot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18888" y="1993392"/>
            <a:ext cx="3886200" cy="548640"/>
          </a:xfrm>
          <a:prstGeom prst="rect">
            <a:avLst/>
          </a:prstGeom>
          <a:solidFill>
            <a:srgbClr val="072310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9933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Added 60s blocking warm-up delay in setup() before control loop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9504"/>
            <a:ext cx="4206240" cy="19659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99232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Rack Skip Under 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83864"/>
            <a:ext cx="3886200" cy="502920"/>
          </a:xfrm>
          <a:prstGeom prst="rect">
            <a:avLst/>
          </a:prstGeom>
          <a:solidFill>
            <a:srgbClr val="2D0F07"/>
          </a:solidFill>
          <a:ln w="6350">
            <a:solidFill>
              <a:srgbClr val="AA44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838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Flexible motor bracket allowed pinion disengagement from rack under resistance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078224"/>
            <a:ext cx="3886200" cy="548640"/>
          </a:xfrm>
          <a:prstGeom prst="rect">
            <a:avLst/>
          </a:prstGeom>
          <a:solidFill>
            <a:srgbClr val="072310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782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Rigid aluminum side-bracing on motor body — zero skip events after fix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2889504"/>
            <a:ext cx="4206240" cy="196596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2999232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Under Unit Variation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18888" y="3483864"/>
            <a:ext cx="3886200" cy="502920"/>
          </a:xfrm>
          <a:prstGeom prst="rect">
            <a:avLst/>
          </a:prstGeom>
          <a:solidFill>
            <a:srgbClr val="2D0F07"/>
          </a:solidFill>
          <a:ln w="6350">
            <a:solidFill>
              <a:srgbClr val="AA44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4838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MQ sensor unit-to-unit variation made datasheet 1800 ADC estimate unreliable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18888" y="4078224"/>
            <a:ext cx="3886200" cy="548640"/>
          </a:xfrm>
          <a:prstGeom prst="rect">
            <a:avLst/>
          </a:prstGeom>
          <a:solidFill>
            <a:srgbClr val="072310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40782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Calibration protocol: 5-min baseline read → threshold = mean + 500 ADC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Environments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&amp; Kitchen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overnight air quality management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72968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72968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72968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Ward Ventilation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pollutant exposure for vulnerable occupants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17336" y="8229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17336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17336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17336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Ventilation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acceptable CO₂ &amp; AQI for learning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8803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2860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Fume-Aware Ventilation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206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Auto-closure during chemical or fume events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28803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72968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72968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Buildings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72968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Ventilation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4206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building management systems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7336" y="2880360"/>
            <a:ext cx="2743200" cy="1828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17336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17336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17336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Safety Zones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4206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actuation during process events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006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 One ESP32 per window. Multi-window: central sensor → multiple ESP32 units via I2C or Wi-Fi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Roadmap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67694" y="1702444"/>
            <a:ext cx="6513022" cy="45719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1037016" y="1254805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26139" y="1295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83536" y="1295327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6976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74176" y="1620565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62696" y="1876597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Dashboard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2696" y="2406949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Wi-Fi + MQTT → Node-RED / Home Assistant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51416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08616" y="1620565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997136" y="1876597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Override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7136" y="2406949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control via Blynk or custom interface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5856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43056" y="1620565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231576" y="1876597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Sensing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40136" y="2425237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BME688 — PM2.5, CO₂, VOC, Temp, Humidity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99514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39C1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40336" y="1638853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4300801" y="1896129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AQI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00801" y="2456824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with AQICN / OpenAQ API live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43256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39C1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00456" y="1620565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5288976" y="1876597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Supply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88976" y="2406949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panel with Li-ion buffer for off-grid use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40536" y="1830877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F39C1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97736" y="1620565"/>
            <a:ext cx="182880" cy="1828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6386256" y="1876597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Updates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6256" y="2406949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ArduinoOTA — threshold adjustment without reflash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00656" y="1853320"/>
            <a:ext cx="1143000" cy="2011680"/>
          </a:xfrm>
          <a:prstGeom prst="rect">
            <a:avLst/>
          </a:prstGeom>
          <a:solidFill>
            <a:srgbClr val="132030"/>
          </a:solidFill>
          <a:ln w="8890">
            <a:solidFill>
              <a:srgbClr val="2EC4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80716" y="1643008"/>
            <a:ext cx="182880" cy="1828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7346376" y="18990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46376" y="242939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baseline model — auto-adjusts to site conditions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7160" y="4080301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Principle: Actuation loop stays local &amp; deterministic regardless of cloud connectivity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Objectives Achieved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8686800" cy="685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686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Prototype Delivered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161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sensing-to-actuation loop operational on ESP32 with L298N and 12V rack-and-pinion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73352"/>
            <a:ext cx="8686800" cy="685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67335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7282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Threshold Logic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0208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ADC threshold with 10s stability gate — zero false actuations in all test scenarios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78024"/>
            <a:ext cx="8686800" cy="685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47802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5328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Mechanical Drive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6500 ms firmware drive completes 11-inch rack stroke reliably across repeated cycles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282696"/>
            <a:ext cx="8686800" cy="685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28269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&amp; Accessible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630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BOM under ₹1,500 — suitable for residential, classroom, and institutional deployment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4087368"/>
            <a:ext cx="8686800" cy="685800"/>
          </a:xfrm>
          <a:prstGeom prst="rect">
            <a:avLst/>
          </a:prstGeom>
          <a:solidFill>
            <a:srgbClr val="132030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873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142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 Architecture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supports IoT, multi-gas sensing, and remote control in Version 2.0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-project/Fig_4_2_Final_Prototype_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Sliding Window for Ambient Air Quality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2377440"/>
            <a:ext cx="457200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G. </a:t>
            </a:r>
            <a:r>
              <a:rPr lang="en-US" sz="1000" dirty="0" err="1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Ichageri</a:t>
            </a:r>
            <a:r>
              <a:rPr lang="en-US" sz="1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Satvik Pandurangi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Mahendra M. K.  ·  Dept. Electronics &amp; Communication Engineering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College of Engineering and Technology, Hubballi  ·  2025–26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1568</Words>
  <Application>Microsoft Office PowerPoint</Application>
  <PresentationFormat>On-screen Show (16:9)</PresentationFormat>
  <Paragraphs>376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Sliding Window for Ambient Air Quality</dc:title>
  <dc:subject>PptxGenJS Presentation</dc:subject>
  <dc:creator>PptxGenJS</dc:creator>
  <cp:lastModifiedBy>Satvik Pandurangi</cp:lastModifiedBy>
  <cp:revision>3</cp:revision>
  <dcterms:created xsi:type="dcterms:W3CDTF">2026-06-24T13:20:36Z</dcterms:created>
  <dcterms:modified xsi:type="dcterms:W3CDTF">2026-06-24T15:52:12Z</dcterms:modified>
</cp:coreProperties>
</file>